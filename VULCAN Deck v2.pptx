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— THE 30-SECOND STORY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1463040"/>
            <a:ext cx="1645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1463040" y="3017520"/>
            <a:ext cx="1536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7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 AI trading agent that runs an iron condor on the S&amp;P 500.</a:t>
            </a:r>
          </a:p>
          <a:p>
            <a:pPr algn="ctr">
              <a:lnSpc>
                <a:spcPct val="122000"/>
              </a:lnSpc>
              <a:spcBef>
                <a:spcPts val="1400"/>
              </a:spcBef>
            </a:pPr>
            <a:r>
              <a:rPr sz="27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 iron condor is a bet that the market stays inside a range.</a:t>
            </a:r>
          </a:p>
          <a:p>
            <a:pPr algn="ctr">
              <a:lnSpc>
                <a:spcPct val="122000"/>
              </a:lnSpc>
              <a:spcBef>
                <a:spcPts val="1800"/>
              </a:spcBef>
            </a:pPr>
            <a:r>
              <a:rPr sz="21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forecasts that range with three models — HAR, GARCH and machine learning — prices the structure, enters it through the Alpaca API, and guards it 24/7.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7635240"/>
            <a:ext cx="3383280" cy="822960"/>
          </a:xfrm>
          <a:prstGeom prst="rect">
            <a:avLst/>
          </a:prstGeom>
          <a:solidFill>
            <a:srgbClr val="241B14"/>
          </a:solidFill>
          <a:ln w="1524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ulcanText"/>
          <p:cNvSpPr txBox="1"/>
          <p:nvPr/>
        </p:nvSpPr>
        <p:spPr>
          <a:xfrm>
            <a:off x="7452360" y="774496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MADE A PROFIT ON DAY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1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 — THE IRON CONDOR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8412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bet that the market stays inside a range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25146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You sell two credit spreads at the same time: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4114800" cy="16002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54864" cy="160020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1097280" y="32461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PUT CREDIT SPREAD  ·  BELOW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097280" y="3657600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SELL 500 PUT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7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BUY 495 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3063240"/>
            <a:ext cx="4114800" cy="16002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3063240"/>
            <a:ext cx="54864" cy="160020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5394960" y="32461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CALL CREDIT SPREAD  ·  ABOVE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5394960" y="3657600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SELL 510 CALL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7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BUY 515 CALL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822960" y="5029200"/>
            <a:ext cx="8412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SPY closes between 500 and 510 at expiry, both spreads expire worthless — you keep the credit.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profit = credit collected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 = strike width − credit = $5.00 − $1.50 = $3.50/share → $350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4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Breakevens = put short − credit (498.50)  ·  call short + credit (511.50)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514600"/>
            <a:ext cx="7818120" cy="5943600"/>
          </a:xfrm>
          <a:prstGeom prst="rect">
            <a:avLst/>
          </a:prstGeom>
          <a:solidFill>
            <a:srgbClr val="1E171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9921240" y="265176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PAYOFF AT EXPIRY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21240" y="5669280"/>
            <a:ext cx="7406640" cy="0"/>
          </a:xfrm>
          <a:prstGeom prst="line">
            <a:avLst/>
          </a:prstGeom>
          <a:ln w="12700">
            <a:solidFill>
              <a:srgbClr val="A8A09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21240" y="4818888"/>
            <a:ext cx="7406640" cy="0"/>
          </a:xfrm>
          <a:prstGeom prst="line">
            <a:avLst/>
          </a:prstGeom>
          <a:ln w="9525">
            <a:solidFill>
              <a:srgbClr val="F2A65A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21240" y="7653528"/>
            <a:ext cx="7406640" cy="0"/>
          </a:xfrm>
          <a:prstGeom prst="line">
            <a:avLst/>
          </a:prstGeom>
          <a:ln w="9525">
            <a:solidFill>
              <a:srgbClr val="8A4A3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21240" y="7653528"/>
            <a:ext cx="617220" cy="0"/>
          </a:xfrm>
          <a:prstGeom prst="line">
            <a:avLst/>
          </a:prstGeom>
          <a:ln w="31750">
            <a:solidFill>
              <a:srgbClr val="E87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538460" y="4818888"/>
            <a:ext cx="1543049" cy="2834640"/>
          </a:xfrm>
          <a:prstGeom prst="line">
            <a:avLst/>
          </a:prstGeom>
          <a:ln w="31750">
            <a:solidFill>
              <a:srgbClr val="E87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081509" y="4818888"/>
            <a:ext cx="3086100" cy="0"/>
          </a:xfrm>
          <a:prstGeom prst="line">
            <a:avLst/>
          </a:prstGeom>
          <a:ln w="3175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167609" y="4818888"/>
            <a:ext cx="1543050" cy="2834640"/>
          </a:xfrm>
          <a:prstGeom prst="line">
            <a:avLst/>
          </a:prstGeom>
          <a:ln w="31750">
            <a:solidFill>
              <a:srgbClr val="E87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710659" y="7653528"/>
            <a:ext cx="617221" cy="0"/>
          </a:xfrm>
          <a:prstGeom prst="line">
            <a:avLst/>
          </a:prstGeom>
          <a:ln w="31750">
            <a:solidFill>
              <a:srgbClr val="E87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38460" y="3246120"/>
            <a:ext cx="0" cy="4754880"/>
          </a:xfrm>
          <a:prstGeom prst="line">
            <a:avLst/>
          </a:prstGeom>
          <a:ln w="6350">
            <a:solidFill>
              <a:srgbClr val="A8A09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ulcanText"/>
          <p:cNvSpPr txBox="1"/>
          <p:nvPr/>
        </p:nvSpPr>
        <p:spPr>
          <a:xfrm>
            <a:off x="10035540" y="80467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495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081509" y="3246120"/>
            <a:ext cx="0" cy="4754880"/>
          </a:xfrm>
          <a:prstGeom prst="line">
            <a:avLst/>
          </a:prstGeom>
          <a:ln w="6350">
            <a:solidFill>
              <a:srgbClr val="A8A09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VulcanText"/>
          <p:cNvSpPr txBox="1"/>
          <p:nvPr/>
        </p:nvSpPr>
        <p:spPr>
          <a:xfrm>
            <a:off x="11578589" y="80467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167609" y="3246120"/>
            <a:ext cx="0" cy="4754880"/>
          </a:xfrm>
          <a:prstGeom prst="line">
            <a:avLst/>
          </a:prstGeom>
          <a:ln w="6350">
            <a:solidFill>
              <a:srgbClr val="A8A09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ulcanText"/>
          <p:cNvSpPr txBox="1"/>
          <p:nvPr/>
        </p:nvSpPr>
        <p:spPr>
          <a:xfrm>
            <a:off x="14664689" y="80467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510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710659" y="3246120"/>
            <a:ext cx="0" cy="4754880"/>
          </a:xfrm>
          <a:prstGeom prst="line">
            <a:avLst/>
          </a:prstGeom>
          <a:ln w="6350">
            <a:solidFill>
              <a:srgbClr val="A8A096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ulcanText"/>
          <p:cNvSpPr txBox="1"/>
          <p:nvPr/>
        </p:nvSpPr>
        <p:spPr>
          <a:xfrm>
            <a:off x="16207739" y="80467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515</a:t>
            </a:r>
          </a:p>
        </p:txBody>
      </p:sp>
      <p:sp>
        <p:nvSpPr>
          <p:cNvPr id="32" name="Oval 31"/>
          <p:cNvSpPr/>
          <p:nvPr/>
        </p:nvSpPr>
        <p:spPr>
          <a:xfrm>
            <a:off x="11577447" y="5628132"/>
            <a:ext cx="82296" cy="82296"/>
          </a:xfrm>
          <a:prstGeom prst="ellipse">
            <a:avLst/>
          </a:prstGeom>
          <a:solidFill>
            <a:srgbClr val="FF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589376" y="5628132"/>
            <a:ext cx="82296" cy="82296"/>
          </a:xfrm>
          <a:prstGeom prst="ellipse">
            <a:avLst/>
          </a:prstGeom>
          <a:solidFill>
            <a:srgbClr val="FF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ulcanText"/>
          <p:cNvSpPr txBox="1"/>
          <p:nvPr/>
        </p:nvSpPr>
        <p:spPr>
          <a:xfrm>
            <a:off x="10978515" y="57424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498.5</a:t>
            </a:r>
          </a:p>
        </p:txBody>
      </p:sp>
      <p:sp>
        <p:nvSpPr>
          <p:cNvPr id="35" name="VulcanText"/>
          <p:cNvSpPr txBox="1"/>
          <p:nvPr/>
        </p:nvSpPr>
        <p:spPr>
          <a:xfrm>
            <a:off x="14990445" y="574243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511.5</a:t>
            </a:r>
          </a:p>
        </p:txBody>
      </p:sp>
      <p:sp>
        <p:nvSpPr>
          <p:cNvPr id="36" name="VulcanText"/>
          <p:cNvSpPr txBox="1"/>
          <p:nvPr/>
        </p:nvSpPr>
        <p:spPr>
          <a:xfrm>
            <a:off x="15361920" y="434340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+$150  MAX PROFIT</a:t>
            </a:r>
          </a:p>
        </p:txBody>
      </p:sp>
      <p:sp>
        <p:nvSpPr>
          <p:cNvPr id="37" name="VulcanText"/>
          <p:cNvSpPr txBox="1"/>
          <p:nvPr/>
        </p:nvSpPr>
        <p:spPr>
          <a:xfrm>
            <a:off x="13990320" y="769924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D97B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−$350  MAX LOSS</a:t>
            </a:r>
          </a:p>
        </p:txBody>
      </p:sp>
      <p:sp>
        <p:nvSpPr>
          <p:cNvPr id="38" name="VulcanText"/>
          <p:cNvSpPr txBox="1"/>
          <p:nvPr/>
        </p:nvSpPr>
        <p:spPr>
          <a:xfrm>
            <a:off x="9921240" y="53949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$0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41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 — THE THREE FORECAST MODELS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Three models vote on where the range will be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5349240" cy="672084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ulcanText"/>
          <p:cNvSpPr txBox="1"/>
          <p:nvPr/>
        </p:nvSpPr>
        <p:spPr>
          <a:xfrm>
            <a:off x="1143000" y="26060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HAR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143000" y="31272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RANGE FORECAST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611880"/>
            <a:ext cx="4709160" cy="132588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ulcanText"/>
          <p:cNvSpPr txBox="1"/>
          <p:nvPr/>
        </p:nvSpPr>
        <p:spPr>
          <a:xfrm>
            <a:off x="1325880" y="3776472"/>
            <a:ext cx="4389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σ²(week) = c + βd·σ²(day)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+ βw·σ²(week) + βm·σ²(month)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1143000" y="5138928"/>
            <a:ext cx="470916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βd ≈ 0.4   βw ≈ 0.3   βm ≈ 0.3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Blends daily, weekly and monthly ranges into one weekly forecast.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forecast range tells VULCAN where to place the strikes.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8092440"/>
            <a:ext cx="4709160" cy="68580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ulcanText"/>
          <p:cNvSpPr txBox="1"/>
          <p:nvPr/>
        </p:nvSpPr>
        <p:spPr>
          <a:xfrm>
            <a:off x="1325880" y="820216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OUTPUT: forecast weekly range → strike placement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331720"/>
            <a:ext cx="5349240" cy="672084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2331720"/>
            <a:ext cx="5349240" cy="64008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ulcanText"/>
          <p:cNvSpPr txBox="1"/>
          <p:nvPr/>
        </p:nvSpPr>
        <p:spPr>
          <a:xfrm>
            <a:off x="6766560" y="26060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GARCH(1,1)</a:t>
            </a:r>
          </a:p>
        </p:txBody>
      </p:sp>
      <p:sp>
        <p:nvSpPr>
          <p:cNvPr id="16" name="VulcanText"/>
          <p:cNvSpPr txBox="1"/>
          <p:nvPr/>
        </p:nvSpPr>
        <p:spPr>
          <a:xfrm>
            <a:off x="6766560" y="31272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VOLATILITY 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611880"/>
            <a:ext cx="4709160" cy="132588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6949440" y="3776472"/>
            <a:ext cx="4389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σ²(t) = ω + α·ε²(t−1)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+ β·σ²(t−1)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6766560" y="5138928"/>
            <a:ext cx="470916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α ≈ 0.1 (surprise)   β ≈ 0.85 (persistence)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Volatility is mean-reverting: α + β ≈ 0.95 &lt; 1, so shocks decay and σ returns to its long-run level.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Yesterday's surprise still matters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8092440"/>
            <a:ext cx="4709160" cy="68580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ulcanText"/>
          <p:cNvSpPr txBox="1"/>
          <p:nvPr/>
        </p:nvSpPr>
        <p:spPr>
          <a:xfrm>
            <a:off x="6949440" y="820216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OUTPUT: updated weekly σ → credit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70080" y="2331720"/>
            <a:ext cx="5349240" cy="672084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70080" y="2331720"/>
            <a:ext cx="5349240" cy="64008"/>
          </a:xfrm>
          <a:prstGeom prst="rect">
            <a:avLst/>
          </a:prstGeom>
          <a:solidFill>
            <a:srgbClr val="7F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ulcanText"/>
          <p:cNvSpPr txBox="1"/>
          <p:nvPr/>
        </p:nvSpPr>
        <p:spPr>
          <a:xfrm>
            <a:off x="12390120" y="26060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MACHINE LEARNING</a:t>
            </a:r>
          </a:p>
        </p:txBody>
      </p:sp>
      <p:sp>
        <p:nvSpPr>
          <p:cNvPr id="25" name="VulcanText"/>
          <p:cNvSpPr txBox="1"/>
          <p:nvPr/>
        </p:nvSpPr>
        <p:spPr>
          <a:xfrm>
            <a:off x="12390120" y="312724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NON-LINEAR 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90120" y="3611880"/>
            <a:ext cx="4709160" cy="132588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ulcanText"/>
          <p:cNvSpPr txBox="1"/>
          <p:nvPr/>
        </p:nvSpPr>
        <p:spPr>
          <a:xfrm>
            <a:off x="12573000" y="3776472"/>
            <a:ext cx="4389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features = [ daily range, volume,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IV skew, IV term structure, VIX ]</a:t>
            </a:r>
          </a:p>
        </p:txBody>
      </p:sp>
      <p:sp>
        <p:nvSpPr>
          <p:cNvPr id="28" name="VulcanText"/>
          <p:cNvSpPr txBox="1"/>
          <p:nvPr/>
        </p:nvSpPr>
        <p:spPr>
          <a:xfrm>
            <a:off x="12390120" y="5138928"/>
            <a:ext cx="470916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Captures what linear models miss: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puts cost more than calls (IV skew) and the term structure slope tells the regime.</a:t>
            </a:r>
          </a:p>
          <a:p>
            <a:pPr algn="l">
              <a:lnSpc>
                <a:spcPct val="124000"/>
              </a:lnSpc>
              <a:spcBef>
                <a:spcPts val="800"/>
              </a:spcBef>
            </a:pPr>
            <a:r>
              <a:rPr sz="13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ML model flags when the condor is mispriced.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90120" y="8092440"/>
            <a:ext cx="4709160" cy="685800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ulcanText"/>
          <p:cNvSpPr txBox="1"/>
          <p:nvPr/>
        </p:nvSpPr>
        <p:spPr>
          <a:xfrm>
            <a:off x="12573000" y="8202168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OUTPUT: skew flag → is the condor worth selling?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33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 — THE 12 COMPONENTS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part has one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ulcanText"/>
          <p:cNvSpPr txBox="1"/>
          <p:nvPr/>
        </p:nvSpPr>
        <p:spPr>
          <a:xfrm>
            <a:off x="1097280" y="2496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01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1097280" y="299008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Ingestion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097280" y="3502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pulls live prices from Alpaca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7488" y="2331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ulcanText"/>
          <p:cNvSpPr txBox="1"/>
          <p:nvPr/>
        </p:nvSpPr>
        <p:spPr>
          <a:xfrm>
            <a:off x="5321808" y="2496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02</a:t>
            </a:r>
          </a:p>
        </p:txBody>
      </p:sp>
      <p:sp>
        <p:nvSpPr>
          <p:cNvPr id="10" name="VulcanText"/>
          <p:cNvSpPr txBox="1"/>
          <p:nvPr/>
        </p:nvSpPr>
        <p:spPr>
          <a:xfrm>
            <a:off x="5321808" y="299008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Forecast Engine</a:t>
            </a:r>
          </a:p>
        </p:txBody>
      </p:sp>
      <p:sp>
        <p:nvSpPr>
          <p:cNvPr id="11" name="VulcanText"/>
          <p:cNvSpPr txBox="1"/>
          <p:nvPr/>
        </p:nvSpPr>
        <p:spPr>
          <a:xfrm>
            <a:off x="5321808" y="3502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runs the three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2016" y="2331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ulcanText"/>
          <p:cNvSpPr txBox="1"/>
          <p:nvPr/>
        </p:nvSpPr>
        <p:spPr>
          <a:xfrm>
            <a:off x="9546336" y="2496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03</a:t>
            </a:r>
          </a:p>
        </p:txBody>
      </p:sp>
      <p:sp>
        <p:nvSpPr>
          <p:cNvPr id="14" name="VulcanText"/>
          <p:cNvSpPr txBox="1"/>
          <p:nvPr/>
        </p:nvSpPr>
        <p:spPr>
          <a:xfrm>
            <a:off x="9546336" y="299008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Signal Engine</a:t>
            </a:r>
          </a:p>
        </p:txBody>
      </p:sp>
      <p:sp>
        <p:nvSpPr>
          <p:cNvPr id="15" name="VulcanText"/>
          <p:cNvSpPr txBox="1"/>
          <p:nvPr/>
        </p:nvSpPr>
        <p:spPr>
          <a:xfrm>
            <a:off x="9546336" y="3502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decides when to enter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96544" y="2331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ulcanText"/>
          <p:cNvSpPr txBox="1"/>
          <p:nvPr/>
        </p:nvSpPr>
        <p:spPr>
          <a:xfrm>
            <a:off x="13770864" y="2496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</a:t>
            </a:r>
          </a:p>
        </p:txBody>
      </p:sp>
      <p:sp>
        <p:nvSpPr>
          <p:cNvPr id="18" name="VulcanText"/>
          <p:cNvSpPr txBox="1"/>
          <p:nvPr/>
        </p:nvSpPr>
        <p:spPr>
          <a:xfrm>
            <a:off x="13770864" y="299008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Entry Engine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3770864" y="3502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sizes the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617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ulcanText"/>
          <p:cNvSpPr txBox="1"/>
          <p:nvPr/>
        </p:nvSpPr>
        <p:spPr>
          <a:xfrm>
            <a:off x="1097280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</a:t>
            </a:r>
          </a:p>
        </p:txBody>
      </p:sp>
      <p:sp>
        <p:nvSpPr>
          <p:cNvPr id="22" name="VulcanText"/>
          <p:cNvSpPr txBox="1"/>
          <p:nvPr/>
        </p:nvSpPr>
        <p:spPr>
          <a:xfrm>
            <a:off x="1097280" y="5276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Entry Sizer</a:t>
            </a:r>
          </a:p>
        </p:txBody>
      </p:sp>
      <p:sp>
        <p:nvSpPr>
          <p:cNvPr id="23" name="VulcanText"/>
          <p:cNvSpPr txBox="1"/>
          <p:nvPr/>
        </p:nvSpPr>
        <p:spPr>
          <a:xfrm>
            <a:off x="1097280" y="5788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sets the strike widths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4617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ulcanText"/>
          <p:cNvSpPr txBox="1"/>
          <p:nvPr/>
        </p:nvSpPr>
        <p:spPr>
          <a:xfrm>
            <a:off x="5321808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06</a:t>
            </a:r>
          </a:p>
        </p:txBody>
      </p:sp>
      <p:sp>
        <p:nvSpPr>
          <p:cNvPr id="26" name="VulcanText"/>
          <p:cNvSpPr txBox="1"/>
          <p:nvPr/>
        </p:nvSpPr>
        <p:spPr>
          <a:xfrm>
            <a:off x="5321808" y="5276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Iron Condor Entry</a:t>
            </a:r>
          </a:p>
        </p:txBody>
      </p:sp>
      <p:sp>
        <p:nvSpPr>
          <p:cNvPr id="27" name="VulcanText"/>
          <p:cNvSpPr txBox="1"/>
          <p:nvPr/>
        </p:nvSpPr>
        <p:spPr>
          <a:xfrm>
            <a:off x="5321808" y="5788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builds the four-leg 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72016" y="4617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ulcanText"/>
          <p:cNvSpPr txBox="1"/>
          <p:nvPr/>
        </p:nvSpPr>
        <p:spPr>
          <a:xfrm>
            <a:off x="9546336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07</a:t>
            </a:r>
          </a:p>
        </p:txBody>
      </p:sp>
      <p:sp>
        <p:nvSpPr>
          <p:cNvPr id="30" name="VulcanText"/>
          <p:cNvSpPr txBox="1"/>
          <p:nvPr/>
        </p:nvSpPr>
        <p:spPr>
          <a:xfrm>
            <a:off x="9546336" y="5276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Execution Engine</a:t>
            </a:r>
          </a:p>
        </p:txBody>
      </p:sp>
      <p:sp>
        <p:nvSpPr>
          <p:cNvPr id="31" name="VulcanText"/>
          <p:cNvSpPr txBox="1"/>
          <p:nvPr/>
        </p:nvSpPr>
        <p:spPr>
          <a:xfrm>
            <a:off x="9546336" y="5788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sends orders to Alpaca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496544" y="4617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ulcanText"/>
          <p:cNvSpPr txBox="1"/>
          <p:nvPr/>
        </p:nvSpPr>
        <p:spPr>
          <a:xfrm>
            <a:off x="13770864" y="4782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08</a:t>
            </a:r>
          </a:p>
        </p:txBody>
      </p:sp>
      <p:sp>
        <p:nvSpPr>
          <p:cNvPr id="34" name="VulcanText"/>
          <p:cNvSpPr txBox="1"/>
          <p:nvPr/>
        </p:nvSpPr>
        <p:spPr>
          <a:xfrm>
            <a:off x="13770864" y="5276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Guard</a:t>
            </a:r>
          </a:p>
        </p:txBody>
      </p:sp>
      <p:sp>
        <p:nvSpPr>
          <p:cNvPr id="35" name="VulcanText"/>
          <p:cNvSpPr txBox="1"/>
          <p:nvPr/>
        </p:nvSpPr>
        <p:spPr>
          <a:xfrm>
            <a:off x="13770864" y="5788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monitors 24/7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903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ulcanText"/>
          <p:cNvSpPr txBox="1"/>
          <p:nvPr/>
        </p:nvSpPr>
        <p:spPr>
          <a:xfrm>
            <a:off x="1097280" y="7068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09</a:t>
            </a:r>
          </a:p>
        </p:txBody>
      </p:sp>
      <p:sp>
        <p:nvSpPr>
          <p:cNvPr id="38" name="VulcanText"/>
          <p:cNvSpPr txBox="1"/>
          <p:nvPr/>
        </p:nvSpPr>
        <p:spPr>
          <a:xfrm>
            <a:off x="1097280" y="7562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Risk Engine</a:t>
            </a:r>
          </a:p>
        </p:txBody>
      </p:sp>
      <p:sp>
        <p:nvSpPr>
          <p:cNvPr id="39" name="VulcanText"/>
          <p:cNvSpPr txBox="1"/>
          <p:nvPr/>
        </p:nvSpPr>
        <p:spPr>
          <a:xfrm>
            <a:off x="1097280" y="8074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caps the exposure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6903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ulcanText"/>
          <p:cNvSpPr txBox="1"/>
          <p:nvPr/>
        </p:nvSpPr>
        <p:spPr>
          <a:xfrm>
            <a:off x="5321808" y="7068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</a:t>
            </a:r>
          </a:p>
        </p:txBody>
      </p:sp>
      <p:sp>
        <p:nvSpPr>
          <p:cNvPr id="42" name="VulcanText"/>
          <p:cNvSpPr txBox="1"/>
          <p:nvPr/>
        </p:nvSpPr>
        <p:spPr>
          <a:xfrm>
            <a:off x="5321808" y="7562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Kill Switch</a:t>
            </a:r>
          </a:p>
        </p:txBody>
      </p:sp>
      <p:sp>
        <p:nvSpPr>
          <p:cNvPr id="43" name="VulcanText"/>
          <p:cNvSpPr txBox="1"/>
          <p:nvPr/>
        </p:nvSpPr>
        <p:spPr>
          <a:xfrm>
            <a:off x="5321808" y="8074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closes everything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72016" y="6903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ulcanText"/>
          <p:cNvSpPr txBox="1"/>
          <p:nvPr/>
        </p:nvSpPr>
        <p:spPr>
          <a:xfrm>
            <a:off x="9546336" y="7068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11</a:t>
            </a:r>
          </a:p>
        </p:txBody>
      </p:sp>
      <p:sp>
        <p:nvSpPr>
          <p:cNvPr id="46" name="VulcanText"/>
          <p:cNvSpPr txBox="1"/>
          <p:nvPr/>
        </p:nvSpPr>
        <p:spPr>
          <a:xfrm>
            <a:off x="9546336" y="7562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Backtest Engine</a:t>
            </a:r>
          </a:p>
        </p:txBody>
      </p:sp>
      <p:sp>
        <p:nvSpPr>
          <p:cNvPr id="47" name="VulcanText"/>
          <p:cNvSpPr txBox="1"/>
          <p:nvPr/>
        </p:nvSpPr>
        <p:spPr>
          <a:xfrm>
            <a:off x="9546336" y="8074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tests on history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96544" y="6903720"/>
            <a:ext cx="3977639" cy="2057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ulcanText"/>
          <p:cNvSpPr txBox="1"/>
          <p:nvPr/>
        </p:nvSpPr>
        <p:spPr>
          <a:xfrm>
            <a:off x="13770864" y="706831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12</a:t>
            </a:r>
          </a:p>
        </p:txBody>
      </p:sp>
      <p:sp>
        <p:nvSpPr>
          <p:cNvPr id="50" name="VulcanText"/>
          <p:cNvSpPr txBox="1"/>
          <p:nvPr/>
        </p:nvSpPr>
        <p:spPr>
          <a:xfrm>
            <a:off x="13770864" y="756208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Backtest Infra</a:t>
            </a:r>
          </a:p>
        </p:txBody>
      </p:sp>
      <p:sp>
        <p:nvSpPr>
          <p:cNvPr id="51" name="VulcanText"/>
          <p:cNvSpPr txBox="1"/>
          <p:nvPr/>
        </p:nvSpPr>
        <p:spPr>
          <a:xfrm>
            <a:off x="13770864" y="8074152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framework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54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04 — THE SIX FIXES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 engineering: what broke, and the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ulcanText"/>
          <p:cNvSpPr txBox="1"/>
          <p:nvPr/>
        </p:nvSpPr>
        <p:spPr>
          <a:xfrm>
            <a:off x="1115568" y="2532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1  ·  THE ENTRY WAS BLOCKED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115568" y="3017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entry was blocked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115568" y="3630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the four-leg structure was rejected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1115568" y="4480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rebuilt the entry to build the four legs one at a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2331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331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ulcanText"/>
          <p:cNvSpPr txBox="1"/>
          <p:nvPr/>
        </p:nvSpPr>
        <p:spPr>
          <a:xfrm>
            <a:off x="6739128" y="2532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2  ·  STRIKE WIDTHS WERE WRONG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6739128" y="3017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Strike widths were wrong</a:t>
            </a:r>
          </a:p>
        </p:txBody>
      </p:sp>
      <p:sp>
        <p:nvSpPr>
          <p:cNvPr id="14" name="VulcanText"/>
          <p:cNvSpPr txBox="1"/>
          <p:nvPr/>
        </p:nvSpPr>
        <p:spPr>
          <a:xfrm>
            <a:off x="6739128" y="3630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strikes were placed too close</a:t>
            </a:r>
          </a:p>
        </p:txBody>
      </p:sp>
      <p:sp>
        <p:nvSpPr>
          <p:cNvPr id="15" name="VulcanText"/>
          <p:cNvSpPr txBox="1"/>
          <p:nvPr/>
        </p:nvSpPr>
        <p:spPr>
          <a:xfrm>
            <a:off x="6739128" y="4480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used the forecast range to set the strike widths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0080" y="2331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70080" y="2331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ulcanText"/>
          <p:cNvSpPr txBox="1"/>
          <p:nvPr/>
        </p:nvSpPr>
        <p:spPr>
          <a:xfrm>
            <a:off x="12362688" y="2532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3  ·  EXECUTION WAS REJECTED</a:t>
            </a:r>
          </a:p>
        </p:txBody>
      </p:sp>
      <p:sp>
        <p:nvSpPr>
          <p:cNvPr id="19" name="VulcanText"/>
          <p:cNvSpPr txBox="1"/>
          <p:nvPr/>
        </p:nvSpPr>
        <p:spPr>
          <a:xfrm>
            <a:off x="12362688" y="3017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Execution was rejected</a:t>
            </a:r>
          </a:p>
        </p:txBody>
      </p:sp>
      <p:sp>
        <p:nvSpPr>
          <p:cNvPr id="20" name="VulcanText"/>
          <p:cNvSpPr txBox="1"/>
          <p:nvPr/>
        </p:nvSpPr>
        <p:spPr>
          <a:xfrm>
            <a:off x="12362688" y="3630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Alpaca refused the combined order</a:t>
            </a:r>
          </a:p>
        </p:txBody>
      </p:sp>
      <p:sp>
        <p:nvSpPr>
          <p:cNvPr id="21" name="VulcanText"/>
          <p:cNvSpPr txBox="1"/>
          <p:nvPr/>
        </p:nvSpPr>
        <p:spPr>
          <a:xfrm>
            <a:off x="12362688" y="4480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sent each leg separately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760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760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ulcanText"/>
          <p:cNvSpPr txBox="1"/>
          <p:nvPr/>
        </p:nvSpPr>
        <p:spPr>
          <a:xfrm>
            <a:off x="1115568" y="5961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4  ·  THE GUARD WAS MISSING</a:t>
            </a:r>
          </a:p>
        </p:txBody>
      </p:sp>
      <p:sp>
        <p:nvSpPr>
          <p:cNvPr id="25" name="VulcanText"/>
          <p:cNvSpPr txBox="1"/>
          <p:nvPr/>
        </p:nvSpPr>
        <p:spPr>
          <a:xfrm>
            <a:off x="1115568" y="6446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guard was missing</a:t>
            </a:r>
          </a:p>
        </p:txBody>
      </p:sp>
      <p:sp>
        <p:nvSpPr>
          <p:cNvPr id="26" name="VulcanText"/>
          <p:cNvSpPr txBox="1"/>
          <p:nvPr/>
        </p:nvSpPr>
        <p:spPr>
          <a:xfrm>
            <a:off x="1115568" y="7059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nobody was watching the position</a:t>
            </a:r>
          </a:p>
        </p:txBody>
      </p:sp>
      <p:sp>
        <p:nvSpPr>
          <p:cNvPr id="27" name="VulcanText"/>
          <p:cNvSpPr txBox="1"/>
          <p:nvPr/>
        </p:nvSpPr>
        <p:spPr>
          <a:xfrm>
            <a:off x="1115568" y="7909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built the guard to monitor 24/7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5760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5760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ulcanText"/>
          <p:cNvSpPr txBox="1"/>
          <p:nvPr/>
        </p:nvSpPr>
        <p:spPr>
          <a:xfrm>
            <a:off x="6739128" y="5961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5  ·  THE RISK WAS UNCAPPED</a:t>
            </a:r>
          </a:p>
        </p:txBody>
      </p:sp>
      <p:sp>
        <p:nvSpPr>
          <p:cNvPr id="31" name="VulcanText"/>
          <p:cNvSpPr txBox="1"/>
          <p:nvPr/>
        </p:nvSpPr>
        <p:spPr>
          <a:xfrm>
            <a:off x="6739128" y="6446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risk was uncapped</a:t>
            </a:r>
          </a:p>
        </p:txBody>
      </p:sp>
      <p:sp>
        <p:nvSpPr>
          <p:cNvPr id="32" name="VulcanText"/>
          <p:cNvSpPr txBox="1"/>
          <p:nvPr/>
        </p:nvSpPr>
        <p:spPr>
          <a:xfrm>
            <a:off x="6739128" y="7059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exposure was unbounded</a:t>
            </a:r>
          </a:p>
        </p:txBody>
      </p:sp>
      <p:sp>
        <p:nvSpPr>
          <p:cNvPr id="33" name="VulcanText"/>
          <p:cNvSpPr txBox="1"/>
          <p:nvPr/>
        </p:nvSpPr>
        <p:spPr>
          <a:xfrm>
            <a:off x="6739128" y="7909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capped the exposure with the risk engine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70080" y="5760720"/>
            <a:ext cx="5349240" cy="320040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70080" y="5760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ulcanText"/>
          <p:cNvSpPr txBox="1"/>
          <p:nvPr/>
        </p:nvSpPr>
        <p:spPr>
          <a:xfrm>
            <a:off x="12362688" y="59618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6  ·  NO KILL SWITCH</a:t>
            </a:r>
          </a:p>
        </p:txBody>
      </p:sp>
      <p:sp>
        <p:nvSpPr>
          <p:cNvPr id="37" name="VulcanText"/>
          <p:cNvSpPr txBox="1"/>
          <p:nvPr/>
        </p:nvSpPr>
        <p:spPr>
          <a:xfrm>
            <a:off x="12362688" y="64465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kill switch</a:t>
            </a:r>
          </a:p>
        </p:txBody>
      </p:sp>
      <p:sp>
        <p:nvSpPr>
          <p:cNvPr id="38" name="VulcanText"/>
          <p:cNvSpPr txBox="1"/>
          <p:nvPr/>
        </p:nvSpPr>
        <p:spPr>
          <a:xfrm>
            <a:off x="12362688" y="70591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✗  no way to close everything</a:t>
            </a:r>
          </a:p>
        </p:txBody>
      </p:sp>
      <p:sp>
        <p:nvSpPr>
          <p:cNvPr id="39" name="VulcanText"/>
          <p:cNvSpPr txBox="1"/>
          <p:nvPr/>
        </p:nvSpPr>
        <p:spPr>
          <a:xfrm>
            <a:off x="12362688" y="7909560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✓  added the kill switch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42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05 — THE PROFIT MATH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 trade,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5349240" cy="429768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349240" cy="64008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ulcanText"/>
          <p:cNvSpPr txBox="1"/>
          <p:nvPr/>
        </p:nvSpPr>
        <p:spPr>
          <a:xfrm>
            <a:off x="1143000" y="26060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CREDIT COLLECTED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143000" y="303580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$150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143000" y="4572000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$1.50 per share × 100 shares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= $150.00 cash up front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5897880"/>
            <a:ext cx="4709160" cy="530352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ulcanText"/>
          <p:cNvSpPr txBox="1"/>
          <p:nvPr/>
        </p:nvSpPr>
        <p:spPr>
          <a:xfrm>
            <a:off x="1325880" y="589788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+$150 if the range 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331720"/>
            <a:ext cx="5349240" cy="429768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331720"/>
            <a:ext cx="5349240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ulcanText"/>
          <p:cNvSpPr txBox="1"/>
          <p:nvPr/>
        </p:nvSpPr>
        <p:spPr>
          <a:xfrm>
            <a:off x="6766560" y="26060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 (BOUNDED)</a:t>
            </a:r>
          </a:p>
        </p:txBody>
      </p:sp>
      <p:sp>
        <p:nvSpPr>
          <p:cNvPr id="14" name="VulcanText"/>
          <p:cNvSpPr txBox="1"/>
          <p:nvPr/>
        </p:nvSpPr>
        <p:spPr>
          <a:xfrm>
            <a:off x="6766560" y="303580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$350</a:t>
            </a:r>
          </a:p>
        </p:txBody>
      </p:sp>
      <p:sp>
        <p:nvSpPr>
          <p:cNvPr id="15" name="VulcanText"/>
          <p:cNvSpPr txBox="1"/>
          <p:nvPr/>
        </p:nvSpPr>
        <p:spPr>
          <a:xfrm>
            <a:off x="6766560" y="4572000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strike width − credit = $5.00 − $1.50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= $3.50 per share × 100 shares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5897880"/>
            <a:ext cx="4709160" cy="530352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ulcanText"/>
          <p:cNvSpPr txBox="1"/>
          <p:nvPr/>
        </p:nvSpPr>
        <p:spPr>
          <a:xfrm>
            <a:off x="6949440" y="589788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known before entry — 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0" y="2331720"/>
            <a:ext cx="5349240" cy="429768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80" y="2331720"/>
            <a:ext cx="5349240" cy="64008"/>
          </a:xfrm>
          <a:prstGeom prst="rect">
            <a:avLst/>
          </a:prstGeom>
          <a:solidFill>
            <a:srgbClr val="FF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ulcanText"/>
          <p:cNvSpPr txBox="1"/>
          <p:nvPr/>
        </p:nvSpPr>
        <p:spPr>
          <a:xfrm>
            <a:off x="12390120" y="260604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BREAKEVENS</a:t>
            </a:r>
          </a:p>
        </p:txBody>
      </p:sp>
      <p:sp>
        <p:nvSpPr>
          <p:cNvPr id="21" name="VulcanText"/>
          <p:cNvSpPr txBox="1"/>
          <p:nvPr/>
        </p:nvSpPr>
        <p:spPr>
          <a:xfrm>
            <a:off x="12390120" y="303580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498.5 / 511.5</a:t>
            </a:r>
          </a:p>
        </p:txBody>
      </p:sp>
      <p:sp>
        <p:nvSpPr>
          <p:cNvPr id="22" name="VulcanText"/>
          <p:cNvSpPr txBox="1"/>
          <p:nvPr/>
        </p:nvSpPr>
        <p:spPr>
          <a:xfrm>
            <a:off x="12390120" y="4572000"/>
            <a:ext cx="4709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put short − credit = 500 − 1.5 = 498.5</a:t>
            </a:r>
          </a:p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call short + credit = 510 + 1.5 = 511.5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90120" y="5897880"/>
            <a:ext cx="4709160" cy="530352"/>
          </a:xfrm>
          <a:prstGeom prst="rect">
            <a:avLst/>
          </a:prstGeom>
          <a:solidFill>
            <a:srgbClr val="14100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ulcanText"/>
          <p:cNvSpPr txBox="1"/>
          <p:nvPr/>
        </p:nvSpPr>
        <p:spPr>
          <a:xfrm>
            <a:off x="12573000" y="5897880"/>
            <a:ext cx="4389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range with a $1.50 buffer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7086600"/>
            <a:ext cx="16642080" cy="1554480"/>
          </a:xfrm>
          <a:prstGeom prst="rect">
            <a:avLst/>
          </a:prstGeom>
          <a:solidFill>
            <a:srgbClr val="241B14"/>
          </a:solidFill>
          <a:ln w="15240">
            <a:solidFill>
              <a:srgbClr val="7FC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ulcanText"/>
          <p:cNvSpPr txBox="1"/>
          <p:nvPr/>
        </p:nvSpPr>
        <p:spPr>
          <a:xfrm>
            <a:off x="1234440" y="7086600"/>
            <a:ext cx="4572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DAY-ONE RESULT</a:t>
            </a:r>
          </a:p>
        </p:txBody>
      </p:sp>
      <p:sp>
        <p:nvSpPr>
          <p:cNvPr id="27" name="VulcanText"/>
          <p:cNvSpPr txBox="1"/>
          <p:nvPr/>
        </p:nvSpPr>
        <p:spPr>
          <a:xfrm>
            <a:off x="5486400" y="7086600"/>
            <a:ext cx="115214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PROFIT  —  the range held, the credit was kept. The loop works end to end.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30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06 — THE BACKTEST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Nothing goes live until history agrees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3063240"/>
            <a:ext cx="8229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backtest engine replays history through the full loop — forecast, signal, entry, guard, exit — exactly as it runs live.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Same code path in test and in production. What passed the backtest is what trades.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backtest infrastructure is the framework every strategy change must survive.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818120"/>
            <a:ext cx="8229600" cy="105156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7818120"/>
            <a:ext cx="54864" cy="105156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1143000" y="7818120"/>
            <a:ext cx="76809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GATE: no strategy change ships without a backtest pass.</a:t>
            </a:r>
          </a:p>
        </p:txBody>
      </p:sp>
      <p:pic>
        <p:nvPicPr>
          <p:cNvPr id="8" name="Picture 7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377440"/>
            <a:ext cx="8138160" cy="4572000"/>
          </a:xfrm>
          <a:prstGeom prst="rect">
            <a:avLst/>
          </a:prstGeom>
          <a:effectLst/>
        </p:spPr>
      </p:pic>
      <p:sp>
        <p:nvSpPr>
          <p:cNvPr id="9" name="Rectangle 8"/>
          <p:cNvSpPr/>
          <p:nvPr/>
        </p:nvSpPr>
        <p:spPr>
          <a:xfrm>
            <a:off x="9326880" y="7086600"/>
            <a:ext cx="813816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8138160" cy="4572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822960" y="7086600"/>
            <a:ext cx="813816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07 — THE GUARD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509760" y="1325880"/>
            <a:ext cx="79552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Somebody is always watching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9509760" y="3063240"/>
            <a:ext cx="7955279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guard monitors the position 24/7 — every fill, every greek, every minute to expiry.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acts without a human awake: rolling inside 2 days to expiry, exiting at thresholds, flagging anomalies to the desk.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5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4 existed because nobody was watching. Now something always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7818120"/>
            <a:ext cx="7955279" cy="105156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0" y="7818120"/>
            <a:ext cx="54864" cy="1051560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ulcanText"/>
          <p:cNvSpPr txBox="1"/>
          <p:nvPr/>
        </p:nvSpPr>
        <p:spPr>
          <a:xfrm>
            <a:off x="9829800" y="781812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AUTO-ROLL RULE: inside 2 days to expiry → roll or exit. No human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08 — THE RISK ENGINE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32588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Exposure has a hard ceiling</a:t>
            </a:r>
          </a:p>
        </p:txBody>
      </p:sp>
      <p:sp>
        <p:nvSpPr>
          <p:cNvPr id="4" name="VulcanText"/>
          <p:cNvSpPr txBox="1"/>
          <p:nvPr/>
        </p:nvSpPr>
        <p:spPr>
          <a:xfrm>
            <a:off x="822960" y="3063240"/>
            <a:ext cx="8229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Every structure is defined-risk by construction: the worst case is known before entry.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risk engine caps total exposure, blocks any trade that would breach the cap, and enforces the discipline gates with zero exceptions.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 per condor: $350. That number is a design decision, not a hope.</a:t>
            </a:r>
          </a:p>
        </p:txBody>
      </p:sp>
      <p:pic>
        <p:nvPicPr>
          <p:cNvPr id="5" name="Picture 4" descr="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377440"/>
            <a:ext cx="8138160" cy="457200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9326880" y="7086600"/>
            <a:ext cx="813816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7440"/>
            <a:ext cx="8138160" cy="4572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822960" y="7086600"/>
            <a:ext cx="8138160" cy="27432"/>
          </a:xfrm>
          <a:prstGeom prst="rect">
            <a:avLst/>
          </a:prstGeom>
          <a:solidFill>
            <a:srgbClr val="E8722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09 — THE KILL SWITCH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509760" y="1325880"/>
            <a:ext cx="79552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 command closes everything</a:t>
            </a:r>
          </a:p>
        </p:txBody>
      </p:sp>
      <p:sp>
        <p:nvSpPr>
          <p:cNvPr id="6" name="VulcanText"/>
          <p:cNvSpPr txBox="1"/>
          <p:nvPr/>
        </p:nvSpPr>
        <p:spPr>
          <a:xfrm>
            <a:off x="9509760" y="3063240"/>
            <a:ext cx="7955279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kill switch flattens every position in one stroke — no negotiation, no partial states.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60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 sits outside the AI stack and works even when every model and API misbehaves. Fail-safe by default.</a:t>
            </a:r>
          </a:p>
          <a:p>
            <a:pPr algn="l">
              <a:lnSpc>
                <a:spcPct val="130000"/>
              </a:lnSpc>
              <a:spcBef>
                <a:spcPts val="1600"/>
              </a:spcBef>
            </a:pPr>
            <a:r>
              <a:rPr sz="1500" b="0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Fix 6: it did not exist. Now it is the last line of defence.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9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 — THE NUMBERS</a:t>
            </a:r>
          </a:p>
        </p:txBody>
      </p:sp>
      <p:sp>
        <p:nvSpPr>
          <p:cNvPr id="3" name="VulcanText"/>
          <p:cNvSpPr txBox="1"/>
          <p:nvPr/>
        </p:nvSpPr>
        <p:spPr>
          <a:xfrm>
            <a:off x="822960" y="1234440"/>
            <a:ext cx="1664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whole trade on one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3977639" cy="39319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3977639" cy="64008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ulcanText"/>
          <p:cNvSpPr txBox="1"/>
          <p:nvPr/>
        </p:nvSpPr>
        <p:spPr>
          <a:xfrm>
            <a:off x="1115568" y="28803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+$150</a:t>
            </a:r>
          </a:p>
        </p:txBody>
      </p:sp>
      <p:sp>
        <p:nvSpPr>
          <p:cNvPr id="7" name="VulcanText"/>
          <p:cNvSpPr txBox="1"/>
          <p:nvPr/>
        </p:nvSpPr>
        <p:spPr>
          <a:xfrm>
            <a:off x="1115568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CREDIT COLLECTED</a:t>
            </a:r>
          </a:p>
        </p:txBody>
      </p:sp>
      <p:sp>
        <p:nvSpPr>
          <p:cNvPr id="8" name="VulcanText"/>
          <p:cNvSpPr txBox="1"/>
          <p:nvPr/>
        </p:nvSpPr>
        <p:spPr>
          <a:xfrm>
            <a:off x="1115568" y="49377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if the range holds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2514600"/>
            <a:ext cx="3977639" cy="39319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47488" y="2514600"/>
            <a:ext cx="3977639" cy="64008"/>
          </a:xfrm>
          <a:prstGeom prst="rect">
            <a:avLst/>
          </a:prstGeom>
          <a:solidFill>
            <a:srgbClr val="E87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5340096" y="28803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$350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5340096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MAX LOSS</a:t>
            </a:r>
          </a:p>
        </p:txBody>
      </p:sp>
      <p:sp>
        <p:nvSpPr>
          <p:cNvPr id="13" name="VulcanText"/>
          <p:cNvSpPr txBox="1"/>
          <p:nvPr/>
        </p:nvSpPr>
        <p:spPr>
          <a:xfrm>
            <a:off x="5340096" y="49377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bounded before entry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2016" y="2514600"/>
            <a:ext cx="3977639" cy="39319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72016" y="2514600"/>
            <a:ext cx="3977639" cy="64008"/>
          </a:xfrm>
          <a:prstGeom prst="rect">
            <a:avLst/>
          </a:prstGeom>
          <a:solidFill>
            <a:srgbClr val="FF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ulcanText"/>
          <p:cNvSpPr txBox="1"/>
          <p:nvPr/>
        </p:nvSpPr>
        <p:spPr>
          <a:xfrm>
            <a:off x="9564624" y="28803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498.5 / 511.5</a:t>
            </a:r>
          </a:p>
        </p:txBody>
      </p:sp>
      <p:sp>
        <p:nvSpPr>
          <p:cNvPr id="17" name="VulcanText"/>
          <p:cNvSpPr txBox="1"/>
          <p:nvPr/>
        </p:nvSpPr>
        <p:spPr>
          <a:xfrm>
            <a:off x="9564624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BREAKEVENS</a:t>
            </a:r>
          </a:p>
        </p:txBody>
      </p:sp>
      <p:sp>
        <p:nvSpPr>
          <p:cNvPr id="18" name="VulcanText"/>
          <p:cNvSpPr txBox="1"/>
          <p:nvPr/>
        </p:nvSpPr>
        <p:spPr>
          <a:xfrm>
            <a:off x="9564624" y="49377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range with buffer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96544" y="2514600"/>
            <a:ext cx="3977639" cy="3931920"/>
          </a:xfrm>
          <a:prstGeom prst="rect">
            <a:avLst/>
          </a:prstGeom>
          <a:solidFill>
            <a:srgbClr val="1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96544" y="2514600"/>
            <a:ext cx="3977639" cy="64008"/>
          </a:xfrm>
          <a:prstGeom prst="rect">
            <a:avLst/>
          </a:prstGeom>
          <a:solidFill>
            <a:srgbClr val="7FC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ulcanText"/>
          <p:cNvSpPr txBox="1"/>
          <p:nvPr/>
        </p:nvSpPr>
        <p:spPr>
          <a:xfrm>
            <a:off x="13789152" y="28803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FC8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DAY ONE</a:t>
            </a:r>
          </a:p>
        </p:txBody>
      </p:sp>
      <p:sp>
        <p:nvSpPr>
          <p:cNvPr id="22" name="VulcanText"/>
          <p:cNvSpPr txBox="1"/>
          <p:nvPr/>
        </p:nvSpPr>
        <p:spPr>
          <a:xfrm>
            <a:off x="13789152" y="443484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</a:t>
            </a:r>
          </a:p>
        </p:txBody>
      </p:sp>
      <p:sp>
        <p:nvSpPr>
          <p:cNvPr id="23" name="VulcanText"/>
          <p:cNvSpPr txBox="1"/>
          <p:nvPr/>
        </p:nvSpPr>
        <p:spPr>
          <a:xfrm>
            <a:off x="13789152" y="49377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profit</a:t>
            </a:r>
          </a:p>
        </p:txBody>
      </p:sp>
      <p:sp>
        <p:nvSpPr>
          <p:cNvPr id="24" name="VulcanText"/>
          <p:cNvSpPr txBox="1"/>
          <p:nvPr/>
        </p:nvSpPr>
        <p:spPr>
          <a:xfrm>
            <a:off x="822960" y="7178040"/>
            <a:ext cx="1664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C9C2B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Defined risk, kept simple: the worst case is $350 by construction, the reward is the credit, and the forecast decides where the range — and therefore the strikes — goes.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9555480"/>
            <a:ext cx="16642080" cy="20116"/>
          </a:xfrm>
          <a:prstGeom prst="rect">
            <a:avLst/>
          </a:prstGeom>
          <a:solidFill>
            <a:srgbClr val="A8A096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ulcanText"/>
          <p:cNvSpPr txBox="1"/>
          <p:nvPr/>
        </p:nvSpPr>
        <p:spPr>
          <a:xfrm>
            <a:off x="822960" y="9710928"/>
            <a:ext cx="1188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A09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Trading Agents Hackathon  ·  lablabai x AlpacaHQ  ·  Options Alpha Agents Track</a:t>
            </a:r>
          </a:p>
        </p:txBody>
      </p:sp>
      <p:sp>
        <p:nvSpPr>
          <p:cNvPr id="27" name="VulcanText"/>
          <p:cNvSpPr txBox="1"/>
          <p:nvPr/>
        </p:nvSpPr>
        <p:spPr>
          <a:xfrm>
            <a:off x="13898880" y="97109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VULCAN  ·  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4100D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ulcanText"/>
          <p:cNvSpPr txBox="1"/>
          <p:nvPr/>
        </p:nvSpPr>
        <p:spPr>
          <a:xfrm>
            <a:off x="822960" y="640080"/>
            <a:ext cx="1371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11 — WHAT'S NEXT</a:t>
            </a:r>
          </a:p>
        </p:txBody>
      </p:sp>
      <p:sp>
        <p:nvSpPr>
          <p:cNvPr id="5" name="VulcanText"/>
          <p:cNvSpPr txBox="1"/>
          <p:nvPr/>
        </p:nvSpPr>
        <p:spPr>
          <a:xfrm>
            <a:off x="914400" y="2377440"/>
            <a:ext cx="1645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More underlyings. More structures. Longer horizons.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3931920"/>
            <a:ext cx="3840480" cy="777240"/>
          </a:xfrm>
          <a:prstGeom prst="rect">
            <a:avLst/>
          </a:prstGeom>
          <a:solidFill>
            <a:srgbClr val="241B14"/>
          </a:solidFill>
          <a:ln w="1270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ulcanText"/>
          <p:cNvSpPr txBox="1"/>
          <p:nvPr/>
        </p:nvSpPr>
        <p:spPr>
          <a:xfrm>
            <a:off x="3108960" y="4096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MORE UNDERLYINGS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931920"/>
            <a:ext cx="3840480" cy="777240"/>
          </a:xfrm>
          <a:prstGeom prst="rect">
            <a:avLst/>
          </a:prstGeom>
          <a:solidFill>
            <a:srgbClr val="241B14"/>
          </a:solidFill>
          <a:ln w="1270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ulcanText"/>
          <p:cNvSpPr txBox="1"/>
          <p:nvPr/>
        </p:nvSpPr>
        <p:spPr>
          <a:xfrm>
            <a:off x="7315200" y="4096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MORE STRUCTURES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21440" y="3931920"/>
            <a:ext cx="3840480" cy="777240"/>
          </a:xfrm>
          <a:prstGeom prst="rect">
            <a:avLst/>
          </a:prstGeom>
          <a:solidFill>
            <a:srgbClr val="241B14"/>
          </a:solidFill>
          <a:ln w="12700">
            <a:solidFill>
              <a:srgbClr val="E87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VulcanText"/>
          <p:cNvSpPr txBox="1"/>
          <p:nvPr/>
        </p:nvSpPr>
        <p:spPr>
          <a:xfrm>
            <a:off x="11521440" y="4096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2A65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LONGER HORIZONS</a:t>
            </a:r>
          </a:p>
        </p:txBody>
      </p:sp>
      <p:sp>
        <p:nvSpPr>
          <p:cNvPr id="12" name="VulcanText"/>
          <p:cNvSpPr txBox="1"/>
          <p:nvPr/>
        </p:nvSpPr>
        <p:spPr>
          <a:xfrm>
            <a:off x="914400" y="5394960"/>
            <a:ext cx="1645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framework is built.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</a:pPr>
            <a:r>
              <a:rPr sz="3000" b="1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framework runs.</a:t>
            </a:r>
          </a:p>
          <a:p>
            <a:pPr algn="ctr">
              <a:lnSpc>
                <a:spcPct val="115000"/>
              </a:lnSpc>
              <a:spcBef>
                <a:spcPts val="800"/>
              </a:spcBef>
            </a:pPr>
            <a:r>
              <a:rPr sz="3000" b="1" i="0">
                <a:solidFill>
                  <a:srgbClr val="E8722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framework scales.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8686800"/>
            <a:ext cx="16459200" cy="658368"/>
          </a:xfrm>
          <a:prstGeom prst="rect">
            <a:avLst/>
          </a:prstGeom>
          <a:solidFill>
            <a:srgbClr val="14100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ulcanText"/>
          <p:cNvSpPr txBox="1"/>
          <p:nvPr/>
        </p:nvSpPr>
        <p:spPr>
          <a:xfrm>
            <a:off x="914400" y="8796528"/>
            <a:ext cx="1645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FFFDF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Educational hackathon project  ·  Paper trading only  ·  Nothing here is financial advice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xmlns:p14="http://schemas.microsoft.com/office/powerpoint/2010/main" spd="slow" p14:dur="14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VULCAN — Autonomous AI Options Trading Agent (Full)</dc:title>
  <dc:subject>Autonomous AI desk trading the variance risk premium</dc:subject>
  <dc:creator>VULCAN autonomous desk</dc:creator>
  <cp:keywords>iron condor, HAR, GARCH, machine learning, variance risk premium, Alpaca, defined risk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