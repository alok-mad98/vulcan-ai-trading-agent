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00D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VulcanText"/>
          <p:cNvSpPr txBox="1"/>
          <p:nvPr/>
        </p:nvSpPr>
        <p:spPr>
          <a:xfrm>
            <a:off x="914400" y="3246120"/>
            <a:ext cx="1645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</a:t>
            </a:r>
          </a:p>
        </p:txBody>
      </p:sp>
      <p:sp>
        <p:nvSpPr>
          <p:cNvPr id="5" name="VulcanText"/>
          <p:cNvSpPr txBox="1"/>
          <p:nvPr/>
        </p:nvSpPr>
        <p:spPr>
          <a:xfrm>
            <a:off x="914400" y="5349240"/>
            <a:ext cx="1645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AUTONOMOUS AI OPTIONS TRADING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6172200"/>
            <a:ext cx="2743200" cy="32004"/>
          </a:xfrm>
          <a:prstGeom prst="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VulcanText"/>
          <p:cNvSpPr txBox="1"/>
          <p:nvPr/>
        </p:nvSpPr>
        <p:spPr>
          <a:xfrm>
            <a:off x="914400" y="6400800"/>
            <a:ext cx="1645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Forging the Variance Risk Premium into Profit</a:t>
            </a:r>
          </a:p>
        </p:txBody>
      </p:sp>
      <p:sp>
        <p:nvSpPr>
          <p:cNvPr id="8" name="VulcanText"/>
          <p:cNvSpPr txBox="1"/>
          <p:nvPr/>
        </p:nvSpPr>
        <p:spPr>
          <a:xfrm>
            <a:off x="914400" y="9464040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Trading Agents Hackathon  ·  lablabai x AlpacaHQ  ·  Options Alpha Agents Track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ulcanText"/>
          <p:cNvSpPr txBox="1"/>
          <p:nvPr/>
        </p:nvSpPr>
        <p:spPr>
          <a:xfrm>
            <a:off x="822960" y="685800"/>
            <a:ext cx="1280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01 — THE PROBLEM</a:t>
            </a:r>
          </a:p>
        </p:txBody>
      </p:sp>
      <p:sp>
        <p:nvSpPr>
          <p:cNvPr id="3" name="VulcanText"/>
          <p:cNvSpPr txBox="1"/>
          <p:nvPr/>
        </p:nvSpPr>
        <p:spPr>
          <a:xfrm>
            <a:off x="822960" y="1417320"/>
            <a:ext cx="7863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Retail bots chase charts.</a:t>
            </a:r>
          </a:p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Professionals harvest premium.</a:t>
            </a:r>
          </a:p>
        </p:txBody>
      </p:sp>
      <p:sp>
        <p:nvSpPr>
          <p:cNvPr id="4" name="VulcanText"/>
          <p:cNvSpPr txBox="1"/>
          <p:nvPr/>
        </p:nvSpPr>
        <p:spPr>
          <a:xfrm>
            <a:off x="822960" y="4114800"/>
            <a:ext cx="786384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Every options contract carries insurance pricing. The market charges a premium for volatility protection, and sometimes that price is simply wrong.</a:t>
            </a:r>
          </a:p>
          <a:p>
            <a:pPr algn="l">
              <a:lnSpc>
                <a:spcPct val="125000"/>
              </a:lnSpc>
              <a:spcBef>
                <a:spcPts val="2200"/>
              </a:spcBef>
            </a:pPr>
            <a:r>
              <a:rPr sz="16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When implied volatility is above forecast realized volatility, insurance is overpriced. Sell it. When it is below, buy it. That gap is the Variance Risk Premium — one of the most documented persistent edges in quantitative finance.</a:t>
            </a:r>
          </a:p>
          <a:p>
            <a:pPr algn="l">
              <a:lnSpc>
                <a:spcPct val="125000"/>
              </a:lnSpc>
              <a:spcBef>
                <a:spcPts val="2200"/>
              </a:spcBef>
            </a:pPr>
            <a:r>
              <a:rPr sz="1650" b="0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is an autonomous AI agent that finds that gap, sizes it honestly, and harvests it with hard-coded limits. No hype trades. No chart guessing. One clean, testable edge.</a:t>
            </a:r>
          </a:p>
        </p:txBody>
      </p:sp>
      <p:pic>
        <p:nvPicPr>
          <p:cNvPr id="5" name="Picture 4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2651760"/>
            <a:ext cx="8229600" cy="4626864"/>
          </a:xfrm>
          <a:prstGeom prst="rect">
            <a:avLst/>
          </a:prstGeom>
          <a:effectLst/>
        </p:spPr>
      </p:pic>
      <p:sp>
        <p:nvSpPr>
          <p:cNvPr id="6" name="Rectangle 5"/>
          <p:cNvSpPr/>
          <p:nvPr/>
        </p:nvSpPr>
        <p:spPr>
          <a:xfrm>
            <a:off x="9235440" y="7370064"/>
            <a:ext cx="8229600" cy="27432"/>
          </a:xfrm>
          <a:prstGeom prst="rect">
            <a:avLst/>
          </a:prstGeom>
          <a:solidFill>
            <a:srgbClr val="E8722C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9555480"/>
            <a:ext cx="16642080" cy="20116"/>
          </a:xfrm>
          <a:prstGeom prst="rect">
            <a:avLst/>
          </a:prstGeom>
          <a:solidFill>
            <a:srgbClr val="A8A09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ulcanText"/>
          <p:cNvSpPr txBox="1"/>
          <p:nvPr/>
        </p:nvSpPr>
        <p:spPr>
          <a:xfrm>
            <a:off x="822960" y="9710928"/>
            <a:ext cx="1188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Trading Agents Hackathon  ·  lablabai x AlpacaHQ  ·  Options Alpha Agents Track</a:t>
            </a:r>
          </a:p>
        </p:txBody>
      </p:sp>
      <p:sp>
        <p:nvSpPr>
          <p:cNvPr id="9" name="VulcanText"/>
          <p:cNvSpPr txBox="1"/>
          <p:nvPr/>
        </p:nvSpPr>
        <p:spPr>
          <a:xfrm>
            <a:off x="13898880" y="97109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 ·  02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ulcanText"/>
          <p:cNvSpPr txBox="1"/>
          <p:nvPr/>
        </p:nvSpPr>
        <p:spPr>
          <a:xfrm>
            <a:off x="822960" y="685800"/>
            <a:ext cx="1280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02 — WHAT VULCAN DOES</a:t>
            </a:r>
          </a:p>
        </p:txBody>
      </p:sp>
      <p:sp>
        <p:nvSpPr>
          <p:cNvPr id="3" name="VulcanText"/>
          <p:cNvSpPr txBox="1"/>
          <p:nvPr/>
        </p:nvSpPr>
        <p:spPr>
          <a:xfrm>
            <a:off x="822960" y="1325880"/>
            <a:ext cx="1664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3-Step Loop</a:t>
            </a:r>
          </a:p>
        </p:txBody>
      </p:sp>
      <p:pic>
        <p:nvPicPr>
          <p:cNvPr id="4" name="Picture 3" descr="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286000"/>
            <a:ext cx="8046720" cy="4526280"/>
          </a:xfrm>
          <a:prstGeom prst="rect">
            <a:avLst/>
          </a:prstGeom>
          <a:effectLst/>
        </p:spPr>
      </p:pic>
      <p:sp>
        <p:nvSpPr>
          <p:cNvPr id="5" name="Rectangle 4"/>
          <p:cNvSpPr/>
          <p:nvPr/>
        </p:nvSpPr>
        <p:spPr>
          <a:xfrm>
            <a:off x="822960" y="6995160"/>
            <a:ext cx="5349240" cy="233172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6995160"/>
            <a:ext cx="54864" cy="2331720"/>
          </a:xfrm>
          <a:prstGeom prst="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VulcanText"/>
          <p:cNvSpPr txBox="1"/>
          <p:nvPr/>
        </p:nvSpPr>
        <p:spPr>
          <a:xfrm>
            <a:off x="1143000" y="72237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 — FORECAST</a:t>
            </a:r>
          </a:p>
        </p:txBody>
      </p:sp>
      <p:sp>
        <p:nvSpPr>
          <p:cNvPr id="8" name="VulcanText"/>
          <p:cNvSpPr txBox="1"/>
          <p:nvPr/>
        </p:nvSpPr>
        <p:spPr>
          <a:xfrm>
            <a:off x="1143000" y="777240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Every 15 minutes VULCAN forecasts what SPY volatility will actually be, using three classic models voting together.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6995160"/>
            <a:ext cx="5349240" cy="233172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6995160"/>
            <a:ext cx="54864" cy="2331720"/>
          </a:xfrm>
          <a:prstGeom prst="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VulcanText"/>
          <p:cNvSpPr txBox="1"/>
          <p:nvPr/>
        </p:nvSpPr>
        <p:spPr>
          <a:xfrm>
            <a:off x="6766560" y="72237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 — MEASURE</a:t>
            </a:r>
          </a:p>
        </p:txBody>
      </p:sp>
      <p:sp>
        <p:nvSpPr>
          <p:cNvPr id="12" name="VulcanText"/>
          <p:cNvSpPr txBox="1"/>
          <p:nvPr/>
        </p:nvSpPr>
        <p:spPr>
          <a:xfrm>
            <a:off x="6766560" y="777240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 reads the live options chain from Alpaca and measures what the market is charging right now. The difference is the tradeable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70080" y="6995160"/>
            <a:ext cx="5349240" cy="233172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70080" y="6995160"/>
            <a:ext cx="54864" cy="2331720"/>
          </a:xfrm>
          <a:prstGeom prst="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ulcanText"/>
          <p:cNvSpPr txBox="1"/>
          <p:nvPr/>
        </p:nvSpPr>
        <p:spPr>
          <a:xfrm>
            <a:off x="12390120" y="72237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 — HARVEST</a:t>
            </a:r>
          </a:p>
        </p:txBody>
      </p:sp>
      <p:sp>
        <p:nvSpPr>
          <p:cNvPr id="16" name="VulcanText"/>
          <p:cNvSpPr txBox="1"/>
          <p:nvPr/>
        </p:nvSpPr>
        <p:spPr>
          <a:xfrm>
            <a:off x="12390120" y="777240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When the gap clears every risk gate, it sells premium through defined-risk structures. When it does not, it does nothing. Doing nothing is a feature.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9555480"/>
            <a:ext cx="16642080" cy="20116"/>
          </a:xfrm>
          <a:prstGeom prst="rect">
            <a:avLst/>
          </a:prstGeom>
          <a:solidFill>
            <a:srgbClr val="A8A09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ulcanText"/>
          <p:cNvSpPr txBox="1"/>
          <p:nvPr/>
        </p:nvSpPr>
        <p:spPr>
          <a:xfrm>
            <a:off x="822960" y="9710928"/>
            <a:ext cx="1188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Trading Agents Hackathon  ·  lablabai x AlpacaHQ  ·  Options Alpha Agents Track</a:t>
            </a:r>
          </a:p>
        </p:txBody>
      </p:sp>
      <p:sp>
        <p:nvSpPr>
          <p:cNvPr id="19" name="VulcanText"/>
          <p:cNvSpPr txBox="1"/>
          <p:nvPr/>
        </p:nvSpPr>
        <p:spPr>
          <a:xfrm>
            <a:off x="13898880" y="97109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 ·  03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ulcanText"/>
          <p:cNvSpPr txBox="1"/>
          <p:nvPr/>
        </p:nvSpPr>
        <p:spPr>
          <a:xfrm>
            <a:off x="822960" y="685800"/>
            <a:ext cx="1280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03 — THE AI DEBATE</a:t>
            </a:r>
          </a:p>
        </p:txBody>
      </p:sp>
      <p:sp>
        <p:nvSpPr>
          <p:cNvPr id="3" name="VulcanText"/>
          <p:cNvSpPr txBox="1"/>
          <p:nvPr/>
        </p:nvSpPr>
        <p:spPr>
          <a:xfrm>
            <a:off x="822960" y="1325880"/>
            <a:ext cx="1664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AI proposes. Math disposes.</a:t>
            </a:r>
          </a:p>
        </p:txBody>
      </p:sp>
      <p:pic>
        <p:nvPicPr>
          <p:cNvPr id="4" name="Picture 3" descr="deb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51760"/>
            <a:ext cx="7223760" cy="4059936"/>
          </a:xfrm>
          <a:prstGeom prst="rect">
            <a:avLst/>
          </a:prstGeom>
          <a:effectLst/>
        </p:spPr>
      </p:pic>
      <p:pic>
        <p:nvPicPr>
          <p:cNvPr id="5" name="Picture 4" descr="avatar_analy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651760"/>
            <a:ext cx="1115568" cy="1115568"/>
          </a:xfrm>
          <a:prstGeom prst="rect">
            <a:avLst/>
          </a:prstGeom>
          <a:effectLst/>
        </p:spPr>
      </p:pic>
      <p:sp>
        <p:nvSpPr>
          <p:cNvPr id="6" name="VulcanText"/>
          <p:cNvSpPr txBox="1"/>
          <p:nvPr/>
        </p:nvSpPr>
        <p:spPr>
          <a:xfrm>
            <a:off x="10012680" y="2633472"/>
            <a:ext cx="7452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GLM 5.2 — ANALYSTS</a:t>
            </a:r>
          </a:p>
        </p:txBody>
      </p:sp>
      <p:sp>
        <p:nvSpPr>
          <p:cNvPr id="7" name="VulcanText"/>
          <p:cNvSpPr txBox="1"/>
          <p:nvPr/>
        </p:nvSpPr>
        <p:spPr>
          <a:xfrm>
            <a:off x="10012680" y="3090672"/>
            <a:ext cx="7452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Research the trade, feed briefs to both sides.</a:t>
            </a:r>
          </a:p>
        </p:txBody>
      </p:sp>
      <p:pic>
        <p:nvPicPr>
          <p:cNvPr id="8" name="Picture 7" descr="avatar_b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4133087"/>
            <a:ext cx="1115568" cy="1115568"/>
          </a:xfrm>
          <a:prstGeom prst="rect">
            <a:avLst/>
          </a:prstGeom>
          <a:effectLst/>
        </p:spPr>
      </p:pic>
      <p:sp>
        <p:nvSpPr>
          <p:cNvPr id="9" name="VulcanText"/>
          <p:cNvSpPr txBox="1"/>
          <p:nvPr/>
        </p:nvSpPr>
        <p:spPr>
          <a:xfrm>
            <a:off x="10012680" y="4114800"/>
            <a:ext cx="7452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KIMI K2.7 — THE BEAR</a:t>
            </a:r>
          </a:p>
        </p:txBody>
      </p:sp>
      <p:sp>
        <p:nvSpPr>
          <p:cNvPr id="10" name="VulcanText"/>
          <p:cNvSpPr txBox="1"/>
          <p:nvPr/>
        </p:nvSpPr>
        <p:spPr>
          <a:xfrm>
            <a:off x="10012680" y="4572000"/>
            <a:ext cx="7452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Adversarial by design. Argues against every single trade. Always.</a:t>
            </a:r>
          </a:p>
        </p:txBody>
      </p:sp>
      <p:pic>
        <p:nvPicPr>
          <p:cNvPr id="11" name="Picture 10" descr="avatar_p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5614416"/>
            <a:ext cx="1115568" cy="1115568"/>
          </a:xfrm>
          <a:prstGeom prst="rect">
            <a:avLst/>
          </a:prstGeom>
          <a:effectLst/>
        </p:spPr>
      </p:pic>
      <p:sp>
        <p:nvSpPr>
          <p:cNvPr id="12" name="VulcanText"/>
          <p:cNvSpPr txBox="1"/>
          <p:nvPr/>
        </p:nvSpPr>
        <p:spPr>
          <a:xfrm>
            <a:off x="10012680" y="5596128"/>
            <a:ext cx="7452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GLM 5.3 FLASH — PORTFOLIO MANAGER</a:t>
            </a:r>
          </a:p>
        </p:txBody>
      </p:sp>
      <p:sp>
        <p:nvSpPr>
          <p:cNvPr id="13" name="VulcanText"/>
          <p:cNvSpPr txBox="1"/>
          <p:nvPr/>
        </p:nvSpPr>
        <p:spPr>
          <a:xfrm>
            <a:off x="10012680" y="6053328"/>
            <a:ext cx="7452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Reads both briefs, issues the verdict. Can only VETO or SHRINK a trade. Can never increase size. Ever.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7360920"/>
            <a:ext cx="8869680" cy="1874519"/>
          </a:xfrm>
          <a:prstGeom prst="rect">
            <a:avLst/>
          </a:prstGeom>
          <a:solidFill>
            <a:srgbClr val="1E1712"/>
          </a:solidFill>
          <a:ln w="15240">
            <a:solidFill>
              <a:srgbClr val="E8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ulcanText"/>
          <p:cNvSpPr txBox="1"/>
          <p:nvPr/>
        </p:nvSpPr>
        <p:spPr>
          <a:xfrm>
            <a:off x="8915400" y="7589520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FAIL-SAFE</a:t>
            </a:r>
          </a:p>
        </p:txBody>
      </p:sp>
      <p:sp>
        <p:nvSpPr>
          <p:cNvPr id="16" name="VulcanText"/>
          <p:cNvSpPr txBox="1"/>
          <p:nvPr/>
        </p:nvSpPr>
        <p:spPr>
          <a:xfrm>
            <a:off x="8915400" y="800100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If the LLM is unreachable, the system fails closed to the deterministic decision. The AI is a check, not a dependency.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9555480"/>
            <a:ext cx="16642080" cy="20116"/>
          </a:xfrm>
          <a:prstGeom prst="rect">
            <a:avLst/>
          </a:prstGeom>
          <a:solidFill>
            <a:srgbClr val="A8A09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ulcanText"/>
          <p:cNvSpPr txBox="1"/>
          <p:nvPr/>
        </p:nvSpPr>
        <p:spPr>
          <a:xfrm>
            <a:off x="822960" y="9710928"/>
            <a:ext cx="1188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Trading Agents Hackathon  ·  lablabai x AlpacaHQ  ·  Options Alpha Agents Track</a:t>
            </a:r>
          </a:p>
        </p:txBody>
      </p:sp>
      <p:sp>
        <p:nvSpPr>
          <p:cNvPr id="19" name="VulcanText"/>
          <p:cNvSpPr txBox="1"/>
          <p:nvPr/>
        </p:nvSpPr>
        <p:spPr>
          <a:xfrm>
            <a:off x="13898880" y="97109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 ·  04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ulcanText"/>
          <p:cNvSpPr txBox="1"/>
          <p:nvPr/>
        </p:nvSpPr>
        <p:spPr>
          <a:xfrm>
            <a:off x="822960" y="685800"/>
            <a:ext cx="1280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04 — THE 7 RISK GATES</a:t>
            </a:r>
          </a:p>
        </p:txBody>
      </p:sp>
      <p:sp>
        <p:nvSpPr>
          <p:cNvPr id="3" name="VulcanText"/>
          <p:cNvSpPr txBox="1"/>
          <p:nvPr/>
        </p:nvSpPr>
        <p:spPr>
          <a:xfrm>
            <a:off x="822960" y="1325880"/>
            <a:ext cx="1664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Seven gates. Zero exceptions.</a:t>
            </a:r>
          </a:p>
        </p:txBody>
      </p:sp>
      <p:sp>
        <p:nvSpPr>
          <p:cNvPr id="4" name="VulcanText"/>
          <p:cNvSpPr txBox="1"/>
          <p:nvPr/>
        </p:nvSpPr>
        <p:spPr>
          <a:xfrm>
            <a:off x="822960" y="25146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G1 — DEFINED RISK ONLY</a:t>
            </a:r>
          </a:p>
        </p:txBody>
      </p:sp>
      <p:sp>
        <p:nvSpPr>
          <p:cNvPr id="5" name="VulcanText"/>
          <p:cNvSpPr txBox="1"/>
          <p:nvPr/>
        </p:nvSpPr>
        <p:spPr>
          <a:xfrm>
            <a:off x="822960" y="2916936"/>
            <a:ext cx="4297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Max loss is known in advance, bounded by structure construction. No naked options. Ever.</a:t>
            </a:r>
          </a:p>
        </p:txBody>
      </p:sp>
      <p:sp>
        <p:nvSpPr>
          <p:cNvPr id="6" name="VulcanText"/>
          <p:cNvSpPr txBox="1"/>
          <p:nvPr/>
        </p:nvSpPr>
        <p:spPr>
          <a:xfrm>
            <a:off x="822960" y="427024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G2 — TURBULENCE GATE</a:t>
            </a:r>
          </a:p>
        </p:txBody>
      </p:sp>
      <p:sp>
        <p:nvSpPr>
          <p:cNvPr id="7" name="VulcanText"/>
          <p:cNvSpPr txBox="1"/>
          <p:nvPr/>
        </p:nvSpPr>
        <p:spPr>
          <a:xfrm>
            <a:off x="822960" y="4672584"/>
            <a:ext cx="4297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new premium selling when VIX is elevated or spiking, or when the regime model reads stress.</a:t>
            </a:r>
          </a:p>
        </p:txBody>
      </p:sp>
      <p:sp>
        <p:nvSpPr>
          <p:cNvPr id="8" name="VulcanText"/>
          <p:cNvSpPr txBox="1"/>
          <p:nvPr/>
        </p:nvSpPr>
        <p:spPr>
          <a:xfrm>
            <a:off x="822960" y="6025896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G3 — MONTE CARLO VaR</a:t>
            </a:r>
          </a:p>
        </p:txBody>
      </p:sp>
      <p:sp>
        <p:nvSpPr>
          <p:cNvPr id="9" name="VulcanText"/>
          <p:cNvSpPr txBox="1"/>
          <p:nvPr/>
        </p:nvSpPr>
        <p:spPr>
          <a:xfrm>
            <a:off x="822960" y="6428232"/>
            <a:ext cx="4297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32,768 simulated price paths per trade. Simulated tail losses must stay within the defined maximum before entry.</a:t>
            </a:r>
          </a:p>
        </p:txBody>
      </p:sp>
      <p:sp>
        <p:nvSpPr>
          <p:cNvPr id="10" name="VulcanText"/>
          <p:cNvSpPr txBox="1"/>
          <p:nvPr/>
        </p:nvSpPr>
        <p:spPr>
          <a:xfrm>
            <a:off x="822960" y="7781544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G4 — QUARTER-KELLY SIZING</a:t>
            </a:r>
          </a:p>
        </p:txBody>
      </p:sp>
      <p:sp>
        <p:nvSpPr>
          <p:cNvPr id="11" name="VulcanText"/>
          <p:cNvSpPr txBox="1"/>
          <p:nvPr/>
        </p:nvSpPr>
        <p:spPr>
          <a:xfrm>
            <a:off x="822960" y="8183879"/>
            <a:ext cx="4297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Position size capped at one quarter of the Kelly optimum.</a:t>
            </a:r>
          </a:p>
        </p:txBody>
      </p:sp>
      <p:sp>
        <p:nvSpPr>
          <p:cNvPr id="12" name="VulcanText"/>
          <p:cNvSpPr txBox="1"/>
          <p:nvPr/>
        </p:nvSpPr>
        <p:spPr>
          <a:xfrm>
            <a:off x="5440680" y="25146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G5 — DISCIPLINED EXITS</a:t>
            </a:r>
          </a:p>
        </p:txBody>
      </p:sp>
      <p:sp>
        <p:nvSpPr>
          <p:cNvPr id="13" name="VulcanText"/>
          <p:cNvSpPr txBox="1"/>
          <p:nvPr/>
        </p:nvSpPr>
        <p:spPr>
          <a:xfrm>
            <a:off x="5440680" y="2916936"/>
            <a:ext cx="4297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Take profit at 60% of max gain, cut at 75% of max loss, roll inside 2 days to expiry.</a:t>
            </a:r>
          </a:p>
        </p:txBody>
      </p:sp>
      <p:sp>
        <p:nvSpPr>
          <p:cNvPr id="14" name="VulcanText"/>
          <p:cNvSpPr txBox="1"/>
          <p:nvPr/>
        </p:nvSpPr>
        <p:spPr>
          <a:xfrm>
            <a:off x="5440680" y="427024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G6 — GAP JUDGMENT</a:t>
            </a:r>
          </a:p>
        </p:txBody>
      </p:sp>
      <p:sp>
        <p:nvSpPr>
          <p:cNvPr id="15" name="VulcanText"/>
          <p:cNvSpPr txBox="1"/>
          <p:nvPr/>
        </p:nvSpPr>
        <p:spPr>
          <a:xfrm>
            <a:off x="5440680" y="4672584"/>
            <a:ext cx="4297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desk refuses structures where the model and the market disagree.</a:t>
            </a:r>
          </a:p>
        </p:txBody>
      </p:sp>
      <p:sp>
        <p:nvSpPr>
          <p:cNvPr id="16" name="VulcanText"/>
          <p:cNvSpPr txBox="1"/>
          <p:nvPr/>
        </p:nvSpPr>
        <p:spPr>
          <a:xfrm>
            <a:off x="5440680" y="6025896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G7 — DISCIPLINE</a:t>
            </a:r>
          </a:p>
        </p:txBody>
      </p:sp>
      <p:sp>
        <p:nvSpPr>
          <p:cNvPr id="17" name="VulcanText"/>
          <p:cNvSpPr txBox="1"/>
          <p:nvPr/>
        </p:nvSpPr>
        <p:spPr>
          <a:xfrm>
            <a:off x="5440680" y="6428232"/>
            <a:ext cx="4297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Number seven is discipline itself. The gate is the guard.</a:t>
            </a:r>
          </a:p>
        </p:txBody>
      </p:sp>
      <p:pic>
        <p:nvPicPr>
          <p:cNvPr id="18" name="Picture 17" descr="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514600"/>
            <a:ext cx="7269480" cy="6428232"/>
          </a:xfrm>
          <a:prstGeom prst="rect">
            <a:avLst/>
          </a:prstGeom>
          <a:effectLst/>
        </p:spPr>
      </p:pic>
      <p:sp>
        <p:nvSpPr>
          <p:cNvPr id="19" name="Rectangle 18"/>
          <p:cNvSpPr/>
          <p:nvPr/>
        </p:nvSpPr>
        <p:spPr>
          <a:xfrm>
            <a:off x="822960" y="9555480"/>
            <a:ext cx="16642080" cy="20116"/>
          </a:xfrm>
          <a:prstGeom prst="rect">
            <a:avLst/>
          </a:prstGeom>
          <a:solidFill>
            <a:srgbClr val="A8A09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ulcanText"/>
          <p:cNvSpPr txBox="1"/>
          <p:nvPr/>
        </p:nvSpPr>
        <p:spPr>
          <a:xfrm>
            <a:off x="822960" y="9710928"/>
            <a:ext cx="1188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Trading Agents Hackathon  ·  lablabai x AlpacaHQ  ·  Options Alpha Agents Track</a:t>
            </a:r>
          </a:p>
        </p:txBody>
      </p:sp>
      <p:sp>
        <p:nvSpPr>
          <p:cNvPr id="21" name="VulcanText"/>
          <p:cNvSpPr txBox="1"/>
          <p:nvPr/>
        </p:nvSpPr>
        <p:spPr>
          <a:xfrm>
            <a:off x="13898880" y="97109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 ·  05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00D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VulcanText"/>
          <p:cNvSpPr txBox="1"/>
          <p:nvPr/>
        </p:nvSpPr>
        <p:spPr>
          <a:xfrm>
            <a:off x="914400" y="3383280"/>
            <a:ext cx="16459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46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edge was never the chart.</a:t>
            </a:r>
          </a:p>
          <a:p>
            <a:pPr algn="ctr">
              <a:lnSpc>
                <a:spcPct val="112000"/>
              </a:lnSpc>
              <a:spcBef>
                <a:spcPts val="1000"/>
              </a:spcBef>
            </a:pPr>
            <a:r>
              <a:rPr sz="4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edge was the forecast.</a:t>
            </a:r>
          </a:p>
        </p:txBody>
      </p:sp>
      <p:sp>
        <p:nvSpPr>
          <p:cNvPr id="5" name="VulcanText"/>
          <p:cNvSpPr txBox="1"/>
          <p:nvPr/>
        </p:nvSpPr>
        <p:spPr>
          <a:xfrm>
            <a:off x="914400" y="6309360"/>
            <a:ext cx="1645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— VULCAN, autonomous AI desk, built in 4 days</a:t>
            </a:r>
          </a:p>
        </p:txBody>
      </p:sp>
      <p:sp>
        <p:nvSpPr>
          <p:cNvPr id="6" name="VulcanText"/>
          <p:cNvSpPr txBox="1"/>
          <p:nvPr/>
        </p:nvSpPr>
        <p:spPr>
          <a:xfrm>
            <a:off x="914400" y="9601200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Educational hackathon project  ·  Paper trading only  ·  Nothing here is financial advice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VULCAN — Autonomous AI Options Trading Agent</dc:title>
  <dc:subject>Autonomous AI desk trading the variance risk premium</dc:subject>
  <dc:creator>VULCAN autonomous desk</dc:creator>
  <cp:keywords>variance risk premium, HAR, GARCH, Kalman filter, HMM regime detection, iron fly, iron condor, defined risk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